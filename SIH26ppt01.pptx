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90/s24216971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i.org/10.1109/ACCESS.2024.3470120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pr11061691?utm_source=chatgpt.com" TargetMode="External"/><Relationship Id="rId5" Type="http://schemas.openxmlformats.org/officeDocument/2006/relationships/hyperlink" Target="https://doi.org/10.1007/s00542-023-05484-z?utm_source=chatgpt.com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904" y="939267"/>
            <a:ext cx="5924550" cy="5805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Problem Statement ID –  26025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Problem Statement Title -</a:t>
            </a:r>
            <a:r>
              <a:rPr lang="en-IN" sz="2400" b="1" dirty="0">
                <a:latin typeface="+mn-lt"/>
              </a:rPr>
              <a:t> </a:t>
            </a:r>
            <a:r>
              <a:rPr lang="en-US" sz="2400" b="1" dirty="0">
                <a:latin typeface="+mn-lt"/>
              </a:rPr>
              <a:t>Development of an AI-enabled Low Cost Real Time Mine Subsidence Monitoring, Prediction and Early Warning System for Underground Coal Mines in India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Theme – Disaster Management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Team Name : Bit Masters</a:t>
            </a:r>
            <a:endParaRPr lang="en-IN" sz="2400" b="1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9F4890-7CA9-6EAD-B3C9-A458933E3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154" y="-545873"/>
            <a:ext cx="1976284" cy="2110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179562-2414-9823-2D06-9F53DE7C29B0}"/>
              </a:ext>
            </a:extLst>
          </p:cNvPr>
          <p:cNvSpPr txBox="1"/>
          <p:nvPr/>
        </p:nvSpPr>
        <p:spPr>
          <a:xfrm>
            <a:off x="5038623" y="1185707"/>
            <a:ext cx="739795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solidFill>
                  <a:srgbClr val="0070C0"/>
                </a:solidFill>
              </a:rPr>
              <a:t>Current Problems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Difficult to monitor mine subsidence </a:t>
            </a:r>
            <a:r>
              <a:rPr lang="en-IN" sz="2200" b="1" dirty="0"/>
              <a:t>continuously in real time</a:t>
            </a:r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Early ground deformation may go </a:t>
            </a:r>
            <a:r>
              <a:rPr lang="en-IN" sz="2200" b="1" dirty="0"/>
              <a:t>undetected</a:t>
            </a:r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Existing monitoring can be </a:t>
            </a:r>
            <a:r>
              <a:rPr lang="en-IN" sz="2200" b="1" dirty="0"/>
              <a:t>costly and periodic</a:t>
            </a:r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Delayed detection can increase </a:t>
            </a:r>
            <a:r>
              <a:rPr lang="en-IN" sz="2200" b="1" dirty="0"/>
              <a:t>safety risks</a:t>
            </a:r>
          </a:p>
          <a:p>
            <a:pPr lvl="0"/>
            <a:endParaRPr lang="en-IN" sz="2200" dirty="0"/>
          </a:p>
          <a:p>
            <a:pPr>
              <a:buNone/>
            </a:pPr>
            <a:r>
              <a:rPr lang="en-IN" sz="2200" b="1" dirty="0">
                <a:solidFill>
                  <a:srgbClr val="0070C0"/>
                </a:solidFill>
              </a:rPr>
              <a:t>Our Idea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Low-cost IoT sensor nodes</a:t>
            </a:r>
            <a:r>
              <a:rPr lang="en-IN" sz="2200" dirty="0"/>
              <a:t> for continuous monitoring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LoRa communication</a:t>
            </a:r>
            <a:r>
              <a:rPr lang="en-IN" sz="2200" dirty="0"/>
              <a:t> for long-range, low-power data transmission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Monitor </a:t>
            </a:r>
            <a:r>
              <a:rPr lang="en-IN" sz="2200" b="1" dirty="0"/>
              <a:t>tilt, vibration and ground movement</a:t>
            </a:r>
            <a:endParaRPr lang="en-IN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Real-time dashboard</a:t>
            </a:r>
            <a:r>
              <a:rPr lang="en-IN" sz="2200" dirty="0"/>
              <a:t> for monitoring and visualization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Early warning alerts</a:t>
            </a:r>
            <a:r>
              <a:rPr lang="en-IN" sz="2200" dirty="0"/>
              <a:t> for potential subsidence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80DD1B-B5D8-CBE3-85E5-F4E08430DA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2670"/>
            <a:ext cx="5077260" cy="45378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5E4DB2-4CFD-D0F8-473C-8EAC1D423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154" y="-545873"/>
            <a:ext cx="1976284" cy="21102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87260C-958A-6D0B-8A63-78A1D031D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1935" y="1144500"/>
            <a:ext cx="12192000" cy="39113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5535AA-9045-4AF9-DEC0-8833D76D0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154" y="-545873"/>
            <a:ext cx="1976284" cy="21102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726CAA-D4E1-309F-9BCB-9DD0657A4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12962"/>
            <a:ext cx="12192000" cy="510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730B2B-3059-911D-C50C-BAD4EDE3D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154" y="-545873"/>
            <a:ext cx="1976284" cy="2110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42342E-C35B-2EEA-15CE-DC6F9315F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63837"/>
            <a:ext cx="12192000" cy="536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3A0BA8-77B2-F779-1C45-45015B824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154" y="-545873"/>
            <a:ext cx="1976284" cy="2110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AF8C22-8202-A15F-49B0-777A46EF3B3B}"/>
              </a:ext>
            </a:extLst>
          </p:cNvPr>
          <p:cNvSpPr txBox="1"/>
          <p:nvPr/>
        </p:nvSpPr>
        <p:spPr>
          <a:xfrm>
            <a:off x="245807" y="1183285"/>
            <a:ext cx="121920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IoT &amp; LoRa-Based Underground Coal Mine Monitoring</a:t>
            </a:r>
            <a:r>
              <a:rPr lang="en-IN" sz="2400" dirty="0"/>
              <a:t> — </a:t>
            </a:r>
            <a:r>
              <a:rPr lang="en-IN" sz="2400" i="1" dirty="0"/>
              <a:t>Microsystem Technologies, 2023</a:t>
            </a:r>
            <a:br>
              <a:rPr lang="en-IN" sz="2400" dirty="0"/>
            </a:br>
            <a:r>
              <a:rPr lang="en-IN" sz="2400" dirty="0">
                <a:hlinkClick r:id="rId5"/>
              </a:rPr>
              <a:t>Research Paper</a:t>
            </a:r>
            <a:endParaRPr lang="en-IN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LoRa Communication for Underground Coal Mines</a:t>
            </a:r>
            <a:r>
              <a:rPr lang="en-IN" sz="2400" dirty="0"/>
              <a:t> — </a:t>
            </a:r>
            <a:r>
              <a:rPr lang="en-IN" sz="2400" i="1" dirty="0"/>
              <a:t>Processes, 2023</a:t>
            </a:r>
            <a:br>
              <a:rPr lang="en-IN" sz="2400" dirty="0"/>
            </a:br>
            <a:r>
              <a:rPr lang="en-IN" sz="2400" dirty="0">
                <a:hlinkClick r:id="rId6"/>
              </a:rPr>
              <a:t>Research Paper</a:t>
            </a:r>
            <a:endParaRPr lang="en-IN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LoRa-Based </a:t>
            </a:r>
            <a:r>
              <a:rPr lang="en-IN" sz="2400" b="1" dirty="0" err="1"/>
              <a:t>IIoT</a:t>
            </a:r>
            <a:r>
              <a:rPr lang="en-IN" sz="2400" b="1" dirty="0"/>
              <a:t> Network for Coal Mines</a:t>
            </a:r>
            <a:r>
              <a:rPr lang="en-IN" sz="2400" dirty="0"/>
              <a:t> — </a:t>
            </a:r>
            <a:r>
              <a:rPr lang="en-IN" sz="2400" i="1" dirty="0"/>
              <a:t>IEEE Access, 2024</a:t>
            </a:r>
            <a:br>
              <a:rPr lang="en-IN" sz="2400" dirty="0"/>
            </a:br>
            <a:r>
              <a:rPr lang="en-IN" sz="2400" dirty="0">
                <a:hlinkClick r:id="rId7"/>
              </a:rPr>
              <a:t>Research Paper</a:t>
            </a:r>
            <a:endParaRPr lang="en-IN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IoT/</a:t>
            </a:r>
            <a:r>
              <a:rPr lang="en-IN" sz="2400" b="1" dirty="0" err="1"/>
              <a:t>LoRaWAN</a:t>
            </a:r>
            <a:r>
              <a:rPr lang="en-IN" sz="2400" b="1" dirty="0"/>
              <a:t> Wireless Sensor Networks for Mine Monitoring</a:t>
            </a:r>
            <a:r>
              <a:rPr lang="en-IN" sz="2400" dirty="0"/>
              <a:t> — </a:t>
            </a:r>
            <a:r>
              <a:rPr lang="en-IN" sz="2400" i="1" dirty="0"/>
              <a:t>Sensors, 2024</a:t>
            </a:r>
            <a:br>
              <a:rPr lang="en-IN" sz="2400" dirty="0"/>
            </a:br>
            <a:r>
              <a:rPr lang="en-IN" sz="2400" dirty="0">
                <a:hlinkClick r:id="rId8"/>
              </a:rPr>
              <a:t>Research Paper</a:t>
            </a:r>
            <a:endParaRPr lang="en-IN" sz="2400" dirty="0"/>
          </a:p>
          <a:p>
            <a:pPr lvl="0"/>
            <a:endParaRPr lang="en-IN" sz="2400" dirty="0"/>
          </a:p>
          <a:p>
            <a:r>
              <a:rPr lang="en-IN" sz="2400" b="1" dirty="0"/>
              <a:t>Technical References:</a:t>
            </a:r>
            <a:r>
              <a:rPr lang="en-IN" sz="2400" dirty="0"/>
              <a:t> ESP32 • MPU6050 • SX1278 LoRa • Firebase • React • Node.js/Express • Twilio</a:t>
            </a:r>
          </a:p>
          <a:p>
            <a:endParaRPr lang="en-IN" sz="2400" dirty="0"/>
          </a:p>
          <a:p>
            <a:r>
              <a:rPr lang="en-IN" sz="2400" b="1" dirty="0"/>
              <a:t>Research Foundation:</a:t>
            </a:r>
            <a:br>
              <a:rPr lang="en-IN" sz="2400" dirty="0"/>
            </a:br>
            <a:r>
              <a:rPr lang="en-IN" sz="2400" b="1" dirty="0"/>
              <a:t>Sensors → LoRa → Data Analysis → Dashboard → Early Warning</a:t>
            </a:r>
            <a:endParaRPr lang="en-IN" sz="2400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7599</TotalTime>
  <Words>234</Words>
  <Application>Microsoft Office PowerPoint</Application>
  <PresentationFormat>Widescreen</PresentationFormat>
  <Paragraphs>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ramya Kulkarni</cp:lastModifiedBy>
  <cp:revision>152</cp:revision>
  <dcterms:created xsi:type="dcterms:W3CDTF">2013-12-12T18:46:50Z</dcterms:created>
  <dcterms:modified xsi:type="dcterms:W3CDTF">2026-09-12T03:13:06Z</dcterms:modified>
  <cp:category/>
</cp:coreProperties>
</file>